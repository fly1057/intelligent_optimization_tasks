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0" name="组合 109"/>
          <p:cNvGrpSpPr/>
          <p:nvPr/>
        </p:nvGrpSpPr>
        <p:grpSpPr>
          <a:xfrm>
            <a:off x="2188210" y="1706880"/>
            <a:ext cx="5928360" cy="3681730"/>
            <a:chOff x="3446" y="2688"/>
            <a:chExt cx="9336" cy="5798"/>
          </a:xfrm>
        </p:grpSpPr>
        <p:cxnSp>
          <p:nvCxnSpPr>
            <p:cNvPr id="78" name="直接连接符 77"/>
            <p:cNvCxnSpPr/>
            <p:nvPr/>
          </p:nvCxnSpPr>
          <p:spPr>
            <a:xfrm>
              <a:off x="4318" y="2730"/>
              <a:ext cx="80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>
              <a:off x="4310" y="4005"/>
              <a:ext cx="8102" cy="2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本框 82"/>
            <p:cNvSpPr txBox="1"/>
            <p:nvPr/>
          </p:nvSpPr>
          <p:spPr>
            <a:xfrm>
              <a:off x="10820" y="2688"/>
              <a:ext cx="154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FontTx/>
              </a:pPr>
              <a:r>
                <a:rPr lang="en-US" altLang="zh-CN" sz="1200" b="1"/>
                <a:t>10kV</a:t>
              </a:r>
              <a:r>
                <a:rPr lang="zh-CN" altLang="en-US" sz="1200" b="1"/>
                <a:t>配电网</a:t>
              </a:r>
              <a:r>
                <a:rPr lang="en-US" altLang="zh-CN" sz="1200" b="1"/>
                <a:t> </a:t>
              </a:r>
              <a:endParaRPr lang="en-US" altLang="zh-CN" sz="1200" b="1"/>
            </a:p>
          </p:txBody>
        </p:sp>
        <p:sp>
          <p:nvSpPr>
            <p:cNvPr id="74" name="矩形 73"/>
            <p:cNvSpPr/>
            <p:nvPr/>
          </p:nvSpPr>
          <p:spPr>
            <a:xfrm>
              <a:off x="4595" y="5334"/>
              <a:ext cx="643" cy="44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900"/>
            </a:p>
          </p:txBody>
        </p:sp>
        <p:sp>
          <p:nvSpPr>
            <p:cNvPr id="76" name="任意多边形 75"/>
            <p:cNvSpPr/>
            <p:nvPr/>
          </p:nvSpPr>
          <p:spPr>
            <a:xfrm>
              <a:off x="4650" y="5449"/>
              <a:ext cx="215" cy="115"/>
            </a:xfrm>
            <a:custGeom>
              <a:avLst/>
              <a:gdLst>
                <a:gd name="connisteX0" fmla="*/ 0 w 2939356"/>
                <a:gd name="connsiteY0" fmla="*/ 716282 h 1440184"/>
                <a:gd name="connisteX1" fmla="*/ 739140 w 2939356"/>
                <a:gd name="connsiteY1" fmla="*/ 2 h 1440184"/>
                <a:gd name="connisteX2" fmla="*/ 1455420 w 2939356"/>
                <a:gd name="connsiteY2" fmla="*/ 708662 h 1440184"/>
                <a:gd name="connisteX3" fmla="*/ 2164080 w 2939356"/>
                <a:gd name="connsiteY3" fmla="*/ 1440182 h 1440184"/>
                <a:gd name="connisteX4" fmla="*/ 2880360 w 2939356"/>
                <a:gd name="connsiteY4" fmla="*/ 716282 h 1440184"/>
                <a:gd name="connisteX5" fmla="*/ 2880360 w 2939356"/>
                <a:gd name="connsiteY5" fmla="*/ 716282 h 1440184"/>
                <a:gd name="connisteX6" fmla="*/ 2994660 w 2939356"/>
                <a:gd name="connsiteY6" fmla="*/ 594362 h 1440184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rect l="l" t="t" r="r" b="b"/>
              <a:pathLst>
                <a:path w="2939357" h="1440185">
                  <a:moveTo>
                    <a:pt x="0" y="716283"/>
                  </a:moveTo>
                  <a:cubicBezTo>
                    <a:pt x="133350" y="558803"/>
                    <a:pt x="448310" y="1273"/>
                    <a:pt x="739140" y="3"/>
                  </a:cubicBezTo>
                  <a:cubicBezTo>
                    <a:pt x="1029970" y="-1267"/>
                    <a:pt x="1170305" y="420373"/>
                    <a:pt x="1455420" y="708663"/>
                  </a:cubicBezTo>
                  <a:cubicBezTo>
                    <a:pt x="1740535" y="996953"/>
                    <a:pt x="1878965" y="1438913"/>
                    <a:pt x="2164080" y="1440183"/>
                  </a:cubicBezTo>
                  <a:cubicBezTo>
                    <a:pt x="2449195" y="1441453"/>
                    <a:pt x="2736850" y="861063"/>
                    <a:pt x="2880360" y="716283"/>
                  </a:cubicBezTo>
                  <a:cubicBezTo>
                    <a:pt x="3023870" y="571503"/>
                    <a:pt x="2857500" y="740413"/>
                    <a:pt x="2880360" y="716283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900"/>
            </a:p>
          </p:txBody>
        </p:sp>
        <p:cxnSp>
          <p:nvCxnSpPr>
            <p:cNvPr id="77" name="直接连接符 76"/>
            <p:cNvCxnSpPr/>
            <p:nvPr/>
          </p:nvCxnSpPr>
          <p:spPr>
            <a:xfrm flipH="1">
              <a:off x="4644" y="5334"/>
              <a:ext cx="593" cy="4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 flipV="1">
              <a:off x="4212" y="5558"/>
              <a:ext cx="385" cy="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矩形 80"/>
            <p:cNvSpPr/>
            <p:nvPr/>
          </p:nvSpPr>
          <p:spPr>
            <a:xfrm>
              <a:off x="3446" y="5334"/>
              <a:ext cx="746" cy="44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zh-CN" altLang="en-US" sz="700" b="1">
                  <a:solidFill>
                    <a:schemeClr val="tx1"/>
                  </a:solidFill>
                </a:rPr>
                <a:t>氢电池</a:t>
              </a:r>
              <a:endParaRPr lang="zh-CN" altLang="en-US" sz="700" b="1">
                <a:solidFill>
                  <a:schemeClr val="tx1"/>
                </a:solidFill>
              </a:endParaRPr>
            </a:p>
          </p:txBody>
        </p:sp>
        <p:grpSp>
          <p:nvGrpSpPr>
            <p:cNvPr id="87" name="组合 86"/>
            <p:cNvGrpSpPr/>
            <p:nvPr/>
          </p:nvGrpSpPr>
          <p:grpSpPr>
            <a:xfrm rot="0">
              <a:off x="5010" y="5637"/>
              <a:ext cx="128" cy="62"/>
              <a:chOff x="14476" y="1841"/>
              <a:chExt cx="181" cy="78"/>
            </a:xfrm>
          </p:grpSpPr>
          <p:cxnSp>
            <p:nvCxnSpPr>
              <p:cNvPr id="88" name="直接连接符 87"/>
              <p:cNvCxnSpPr/>
              <p:nvPr/>
            </p:nvCxnSpPr>
            <p:spPr>
              <a:xfrm flipV="1">
                <a:off x="14476" y="1841"/>
                <a:ext cx="181" cy="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/>
              <p:nvPr/>
            </p:nvCxnSpPr>
            <p:spPr>
              <a:xfrm flipV="1">
                <a:off x="14476" y="1918"/>
                <a:ext cx="181" cy="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矩形 11"/>
            <p:cNvSpPr/>
            <p:nvPr/>
          </p:nvSpPr>
          <p:spPr>
            <a:xfrm>
              <a:off x="4478" y="6061"/>
              <a:ext cx="876" cy="449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700" b="1">
                  <a:solidFill>
                    <a:schemeClr val="tx1"/>
                  </a:solidFill>
                </a:rPr>
                <a:t>EMS</a:t>
              </a:r>
              <a:r>
                <a:rPr lang="zh-CN" altLang="en-US" sz="700" b="1">
                  <a:solidFill>
                    <a:schemeClr val="tx1"/>
                  </a:solidFill>
                </a:rPr>
                <a:t>系统</a:t>
              </a:r>
              <a:endParaRPr lang="zh-CN" altLang="en-US" sz="700" b="1">
                <a:solidFill>
                  <a:schemeClr val="tx1"/>
                </a:solidFill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4928" y="5792"/>
              <a:ext cx="0" cy="26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组合 90"/>
            <p:cNvGrpSpPr/>
            <p:nvPr/>
          </p:nvGrpSpPr>
          <p:grpSpPr>
            <a:xfrm>
              <a:off x="4779" y="4031"/>
              <a:ext cx="298" cy="1303"/>
              <a:chOff x="4779" y="4031"/>
              <a:chExt cx="298" cy="1303"/>
            </a:xfrm>
          </p:grpSpPr>
          <p:sp>
            <p:nvSpPr>
              <p:cNvPr id="72" name="矩形 71"/>
              <p:cNvSpPr/>
              <p:nvPr/>
            </p:nvSpPr>
            <p:spPr>
              <a:xfrm rot="16200000">
                <a:off x="4831" y="4252"/>
                <a:ext cx="208" cy="11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r"/>
                <a:endParaRPr lang="zh-CN" altLang="en-US" sz="900"/>
              </a:p>
            </p:txBody>
          </p:sp>
          <p:cxnSp>
            <p:nvCxnSpPr>
              <p:cNvPr id="75" name="直接连接符 74"/>
              <p:cNvCxnSpPr/>
              <p:nvPr/>
            </p:nvCxnSpPr>
            <p:spPr>
              <a:xfrm>
                <a:off x="4928" y="5066"/>
                <a:ext cx="0" cy="26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4" name="组合 123"/>
              <p:cNvGrpSpPr/>
              <p:nvPr/>
            </p:nvGrpSpPr>
            <p:grpSpPr>
              <a:xfrm rot="16200000">
                <a:off x="4694" y="4672"/>
                <a:ext cx="469" cy="299"/>
                <a:chOff x="17617" y="6890"/>
                <a:chExt cx="501" cy="296"/>
              </a:xfrm>
            </p:grpSpPr>
            <p:sp>
              <p:nvSpPr>
                <p:cNvPr id="122" name="椭圆 121"/>
                <p:cNvSpPr/>
                <p:nvPr/>
              </p:nvSpPr>
              <p:spPr>
                <a:xfrm>
                  <a:off x="17617" y="6890"/>
                  <a:ext cx="298" cy="296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900"/>
                </a:p>
              </p:txBody>
            </p:sp>
            <p:sp>
              <p:nvSpPr>
                <p:cNvPr id="123" name="椭圆 122"/>
                <p:cNvSpPr/>
                <p:nvPr/>
              </p:nvSpPr>
              <p:spPr>
                <a:xfrm>
                  <a:off x="17820" y="6890"/>
                  <a:ext cx="298" cy="296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900"/>
                </a:p>
              </p:txBody>
            </p:sp>
          </p:grpSp>
          <p:cxnSp>
            <p:nvCxnSpPr>
              <p:cNvPr id="15" name="直接连接符 14"/>
              <p:cNvCxnSpPr/>
              <p:nvPr/>
            </p:nvCxnSpPr>
            <p:spPr>
              <a:xfrm flipH="1">
                <a:off x="4933" y="4031"/>
                <a:ext cx="4" cy="55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/>
            <p:cNvGrpSpPr/>
            <p:nvPr/>
          </p:nvGrpSpPr>
          <p:grpSpPr>
            <a:xfrm>
              <a:off x="5796" y="4031"/>
              <a:ext cx="1908" cy="2478"/>
              <a:chOff x="3446" y="4015"/>
              <a:chExt cx="1908" cy="2478"/>
            </a:xfrm>
          </p:grpSpPr>
          <p:sp>
            <p:nvSpPr>
              <p:cNvPr id="18" name="矩形 17"/>
              <p:cNvSpPr/>
              <p:nvPr/>
            </p:nvSpPr>
            <p:spPr>
              <a:xfrm rot="16200000">
                <a:off x="4831" y="4236"/>
                <a:ext cx="208" cy="11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r"/>
                <a:endParaRPr lang="zh-CN" altLang="en-US" sz="900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4595" y="5318"/>
                <a:ext cx="643" cy="44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900"/>
              </a:p>
            </p:txBody>
          </p:sp>
          <p:cxnSp>
            <p:nvCxnSpPr>
              <p:cNvPr id="20" name="直接连接符 19"/>
              <p:cNvCxnSpPr/>
              <p:nvPr/>
            </p:nvCxnSpPr>
            <p:spPr>
              <a:xfrm>
                <a:off x="4928" y="5050"/>
                <a:ext cx="0" cy="26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任意多边形 20"/>
              <p:cNvSpPr/>
              <p:nvPr/>
            </p:nvSpPr>
            <p:spPr>
              <a:xfrm>
                <a:off x="4650" y="5433"/>
                <a:ext cx="215" cy="115"/>
              </a:xfrm>
              <a:custGeom>
                <a:avLst/>
                <a:gdLst>
                  <a:gd name="connisteX0" fmla="*/ 0 w 2939356"/>
                  <a:gd name="connsiteY0" fmla="*/ 716282 h 1440184"/>
                  <a:gd name="connisteX1" fmla="*/ 739140 w 2939356"/>
                  <a:gd name="connsiteY1" fmla="*/ 2 h 1440184"/>
                  <a:gd name="connisteX2" fmla="*/ 1455420 w 2939356"/>
                  <a:gd name="connsiteY2" fmla="*/ 708662 h 1440184"/>
                  <a:gd name="connisteX3" fmla="*/ 2164080 w 2939356"/>
                  <a:gd name="connsiteY3" fmla="*/ 1440182 h 1440184"/>
                  <a:gd name="connisteX4" fmla="*/ 2880360 w 2939356"/>
                  <a:gd name="connsiteY4" fmla="*/ 716282 h 1440184"/>
                  <a:gd name="connisteX5" fmla="*/ 2880360 w 2939356"/>
                  <a:gd name="connsiteY5" fmla="*/ 716282 h 1440184"/>
                  <a:gd name="connisteX6" fmla="*/ 2994660 w 2939356"/>
                  <a:gd name="connsiteY6" fmla="*/ 594362 h 1440184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</a:cxnLst>
                <a:rect l="l" t="t" r="r" b="b"/>
                <a:pathLst>
                  <a:path w="2939357" h="1440185">
                    <a:moveTo>
                      <a:pt x="0" y="716283"/>
                    </a:moveTo>
                    <a:cubicBezTo>
                      <a:pt x="133350" y="558803"/>
                      <a:pt x="448310" y="1273"/>
                      <a:pt x="739140" y="3"/>
                    </a:cubicBezTo>
                    <a:cubicBezTo>
                      <a:pt x="1029970" y="-1267"/>
                      <a:pt x="1170305" y="420373"/>
                      <a:pt x="1455420" y="708663"/>
                    </a:cubicBezTo>
                    <a:cubicBezTo>
                      <a:pt x="1740535" y="996953"/>
                      <a:pt x="1878965" y="1438913"/>
                      <a:pt x="2164080" y="1440183"/>
                    </a:cubicBezTo>
                    <a:cubicBezTo>
                      <a:pt x="2449195" y="1441453"/>
                      <a:pt x="2736850" y="861063"/>
                      <a:pt x="2880360" y="716283"/>
                    </a:cubicBezTo>
                    <a:cubicBezTo>
                      <a:pt x="3023870" y="571503"/>
                      <a:pt x="2857500" y="740413"/>
                      <a:pt x="2880360" y="716283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900"/>
              </a:p>
            </p:txBody>
          </p:sp>
          <p:cxnSp>
            <p:nvCxnSpPr>
              <p:cNvPr id="22" name="直接连接符 21"/>
              <p:cNvCxnSpPr/>
              <p:nvPr/>
            </p:nvCxnSpPr>
            <p:spPr>
              <a:xfrm flipH="1">
                <a:off x="4644" y="5318"/>
                <a:ext cx="593" cy="44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 flipH="1" flipV="1">
                <a:off x="4212" y="5542"/>
                <a:ext cx="385" cy="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矩形 23"/>
              <p:cNvSpPr/>
              <p:nvPr/>
            </p:nvSpPr>
            <p:spPr>
              <a:xfrm>
                <a:off x="3446" y="5318"/>
                <a:ext cx="746" cy="44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zh-CN" altLang="en-US" sz="700" b="1">
                    <a:solidFill>
                      <a:schemeClr val="tx1"/>
                    </a:solidFill>
                  </a:rPr>
                  <a:t>钠电池</a:t>
                </a:r>
                <a:endParaRPr lang="zh-CN" altLang="en-US" sz="7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 rot="0">
                <a:off x="5010" y="5621"/>
                <a:ext cx="128" cy="62"/>
                <a:chOff x="14476" y="1841"/>
                <a:chExt cx="181" cy="78"/>
              </a:xfrm>
            </p:grpSpPr>
            <p:cxnSp>
              <p:nvCxnSpPr>
                <p:cNvPr id="26" name="直接连接符 25"/>
                <p:cNvCxnSpPr/>
                <p:nvPr/>
              </p:nvCxnSpPr>
              <p:spPr>
                <a:xfrm flipV="1">
                  <a:off x="14476" y="1841"/>
                  <a:ext cx="181" cy="1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 flipV="1">
                  <a:off x="14476" y="1918"/>
                  <a:ext cx="181" cy="1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矩形 27"/>
              <p:cNvSpPr/>
              <p:nvPr/>
            </p:nvSpPr>
            <p:spPr>
              <a:xfrm>
                <a:off x="4478" y="6045"/>
                <a:ext cx="876" cy="44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700" b="1">
                    <a:solidFill>
                      <a:schemeClr val="tx1"/>
                    </a:solidFill>
                  </a:rPr>
                  <a:t>EMS</a:t>
                </a:r>
                <a:r>
                  <a:rPr lang="zh-CN" altLang="en-US" sz="700" b="1">
                    <a:solidFill>
                      <a:schemeClr val="tx1"/>
                    </a:solidFill>
                  </a:rPr>
                  <a:t>系统</a:t>
                </a:r>
                <a:endParaRPr lang="zh-CN" altLang="en-US" sz="700" b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9" name="直接连接符 28"/>
              <p:cNvCxnSpPr/>
              <p:nvPr/>
            </p:nvCxnSpPr>
            <p:spPr>
              <a:xfrm>
                <a:off x="4928" y="5776"/>
                <a:ext cx="0" cy="26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组合 29"/>
              <p:cNvGrpSpPr/>
              <p:nvPr/>
            </p:nvGrpSpPr>
            <p:grpSpPr>
              <a:xfrm rot="16200000">
                <a:off x="4694" y="4656"/>
                <a:ext cx="469" cy="299"/>
                <a:chOff x="17617" y="6890"/>
                <a:chExt cx="501" cy="296"/>
              </a:xfrm>
            </p:grpSpPr>
            <p:sp>
              <p:nvSpPr>
                <p:cNvPr id="31" name="椭圆 30"/>
                <p:cNvSpPr/>
                <p:nvPr/>
              </p:nvSpPr>
              <p:spPr>
                <a:xfrm>
                  <a:off x="17617" y="6890"/>
                  <a:ext cx="298" cy="296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900"/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>
                  <a:off x="17820" y="6890"/>
                  <a:ext cx="298" cy="296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900"/>
                </a:p>
              </p:txBody>
            </p:sp>
          </p:grpSp>
          <p:cxnSp>
            <p:nvCxnSpPr>
              <p:cNvPr id="33" name="直接连接符 32"/>
              <p:cNvCxnSpPr/>
              <p:nvPr/>
            </p:nvCxnSpPr>
            <p:spPr>
              <a:xfrm flipH="1">
                <a:off x="4933" y="4015"/>
                <a:ext cx="4" cy="55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组合 33"/>
            <p:cNvGrpSpPr/>
            <p:nvPr/>
          </p:nvGrpSpPr>
          <p:grpSpPr>
            <a:xfrm>
              <a:off x="7883" y="4031"/>
              <a:ext cx="2016" cy="2479"/>
              <a:chOff x="3338" y="4015"/>
              <a:chExt cx="2016" cy="2479"/>
            </a:xfrm>
          </p:grpSpPr>
          <p:sp>
            <p:nvSpPr>
              <p:cNvPr id="35" name="矩形 34"/>
              <p:cNvSpPr/>
              <p:nvPr/>
            </p:nvSpPr>
            <p:spPr>
              <a:xfrm rot="16200000">
                <a:off x="4831" y="4236"/>
                <a:ext cx="208" cy="11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r"/>
                <a:endParaRPr lang="zh-CN" altLang="en-US" sz="900"/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4595" y="5318"/>
                <a:ext cx="643" cy="44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900"/>
              </a:p>
            </p:txBody>
          </p:sp>
          <p:cxnSp>
            <p:nvCxnSpPr>
              <p:cNvPr id="37" name="直接连接符 36"/>
              <p:cNvCxnSpPr/>
              <p:nvPr/>
            </p:nvCxnSpPr>
            <p:spPr>
              <a:xfrm>
                <a:off x="4928" y="5050"/>
                <a:ext cx="0" cy="26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任意多边形 37"/>
              <p:cNvSpPr/>
              <p:nvPr/>
            </p:nvSpPr>
            <p:spPr>
              <a:xfrm>
                <a:off x="4650" y="5433"/>
                <a:ext cx="215" cy="115"/>
              </a:xfrm>
              <a:custGeom>
                <a:avLst/>
                <a:gdLst>
                  <a:gd name="connisteX0" fmla="*/ 0 w 2939356"/>
                  <a:gd name="connsiteY0" fmla="*/ 716282 h 1440184"/>
                  <a:gd name="connisteX1" fmla="*/ 739140 w 2939356"/>
                  <a:gd name="connsiteY1" fmla="*/ 2 h 1440184"/>
                  <a:gd name="connisteX2" fmla="*/ 1455420 w 2939356"/>
                  <a:gd name="connsiteY2" fmla="*/ 708662 h 1440184"/>
                  <a:gd name="connisteX3" fmla="*/ 2164080 w 2939356"/>
                  <a:gd name="connsiteY3" fmla="*/ 1440182 h 1440184"/>
                  <a:gd name="connisteX4" fmla="*/ 2880360 w 2939356"/>
                  <a:gd name="connsiteY4" fmla="*/ 716282 h 1440184"/>
                  <a:gd name="connisteX5" fmla="*/ 2880360 w 2939356"/>
                  <a:gd name="connsiteY5" fmla="*/ 716282 h 1440184"/>
                  <a:gd name="connisteX6" fmla="*/ 2994660 w 2939356"/>
                  <a:gd name="connsiteY6" fmla="*/ 594362 h 1440184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</a:cxnLst>
                <a:rect l="l" t="t" r="r" b="b"/>
                <a:pathLst>
                  <a:path w="2939357" h="1440185">
                    <a:moveTo>
                      <a:pt x="0" y="716283"/>
                    </a:moveTo>
                    <a:cubicBezTo>
                      <a:pt x="133350" y="558803"/>
                      <a:pt x="448310" y="1273"/>
                      <a:pt x="739140" y="3"/>
                    </a:cubicBezTo>
                    <a:cubicBezTo>
                      <a:pt x="1029970" y="-1267"/>
                      <a:pt x="1170305" y="420373"/>
                      <a:pt x="1455420" y="708663"/>
                    </a:cubicBezTo>
                    <a:cubicBezTo>
                      <a:pt x="1740535" y="996953"/>
                      <a:pt x="1878965" y="1438913"/>
                      <a:pt x="2164080" y="1440183"/>
                    </a:cubicBezTo>
                    <a:cubicBezTo>
                      <a:pt x="2449195" y="1441453"/>
                      <a:pt x="2736850" y="861063"/>
                      <a:pt x="2880360" y="716283"/>
                    </a:cubicBezTo>
                    <a:cubicBezTo>
                      <a:pt x="3023870" y="571503"/>
                      <a:pt x="2857500" y="740413"/>
                      <a:pt x="2880360" y="716283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900"/>
              </a:p>
            </p:txBody>
          </p:sp>
          <p:cxnSp>
            <p:nvCxnSpPr>
              <p:cNvPr id="39" name="直接连接符 38"/>
              <p:cNvCxnSpPr/>
              <p:nvPr/>
            </p:nvCxnSpPr>
            <p:spPr>
              <a:xfrm flipH="1">
                <a:off x="4644" y="5318"/>
                <a:ext cx="593" cy="44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 flipV="1">
                <a:off x="4212" y="5542"/>
                <a:ext cx="385" cy="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矩形 40"/>
              <p:cNvSpPr/>
              <p:nvPr/>
            </p:nvSpPr>
            <p:spPr>
              <a:xfrm>
                <a:off x="3338" y="5318"/>
                <a:ext cx="854" cy="44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zh-CN" altLang="en-US" sz="700" b="1">
                    <a:solidFill>
                      <a:schemeClr val="tx1"/>
                    </a:solidFill>
                  </a:rPr>
                  <a:t>铁硫电池</a:t>
                </a:r>
                <a:endParaRPr lang="zh-CN" altLang="en-US" sz="7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2" name="组合 41"/>
              <p:cNvGrpSpPr/>
              <p:nvPr/>
            </p:nvGrpSpPr>
            <p:grpSpPr>
              <a:xfrm rot="0">
                <a:off x="5010" y="5621"/>
                <a:ext cx="128" cy="62"/>
                <a:chOff x="14476" y="1841"/>
                <a:chExt cx="181" cy="78"/>
              </a:xfrm>
            </p:grpSpPr>
            <p:cxnSp>
              <p:nvCxnSpPr>
                <p:cNvPr id="43" name="直接连接符 42"/>
                <p:cNvCxnSpPr/>
                <p:nvPr/>
              </p:nvCxnSpPr>
              <p:spPr>
                <a:xfrm flipV="1">
                  <a:off x="14476" y="1841"/>
                  <a:ext cx="181" cy="1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 flipV="1">
                  <a:off x="14476" y="1918"/>
                  <a:ext cx="181" cy="1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矩形 44"/>
              <p:cNvSpPr/>
              <p:nvPr/>
            </p:nvSpPr>
            <p:spPr>
              <a:xfrm>
                <a:off x="4478" y="6045"/>
                <a:ext cx="876" cy="44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700" b="1">
                    <a:solidFill>
                      <a:schemeClr val="tx1"/>
                    </a:solidFill>
                  </a:rPr>
                  <a:t>EMS</a:t>
                </a:r>
                <a:r>
                  <a:rPr lang="zh-CN" altLang="en-US" sz="700" b="1">
                    <a:solidFill>
                      <a:schemeClr val="tx1"/>
                    </a:solidFill>
                  </a:rPr>
                  <a:t>系统</a:t>
                </a:r>
                <a:endParaRPr lang="zh-CN" altLang="en-US" sz="700" b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6" name="直接连接符 45"/>
              <p:cNvCxnSpPr/>
              <p:nvPr/>
            </p:nvCxnSpPr>
            <p:spPr>
              <a:xfrm>
                <a:off x="4928" y="5776"/>
                <a:ext cx="0" cy="26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组合 46"/>
              <p:cNvGrpSpPr/>
              <p:nvPr/>
            </p:nvGrpSpPr>
            <p:grpSpPr>
              <a:xfrm rot="16200000">
                <a:off x="4694" y="4656"/>
                <a:ext cx="469" cy="299"/>
                <a:chOff x="17617" y="6890"/>
                <a:chExt cx="501" cy="296"/>
              </a:xfrm>
            </p:grpSpPr>
            <p:sp>
              <p:nvSpPr>
                <p:cNvPr id="48" name="椭圆 47"/>
                <p:cNvSpPr/>
                <p:nvPr/>
              </p:nvSpPr>
              <p:spPr>
                <a:xfrm>
                  <a:off x="17617" y="6890"/>
                  <a:ext cx="298" cy="296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900"/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>
                  <a:off x="17820" y="6890"/>
                  <a:ext cx="298" cy="296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900"/>
                </a:p>
              </p:txBody>
            </p:sp>
          </p:grpSp>
          <p:cxnSp>
            <p:nvCxnSpPr>
              <p:cNvPr id="50" name="直接连接符 49"/>
              <p:cNvCxnSpPr/>
              <p:nvPr/>
            </p:nvCxnSpPr>
            <p:spPr>
              <a:xfrm flipH="1">
                <a:off x="4933" y="4015"/>
                <a:ext cx="4" cy="55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组合 50"/>
            <p:cNvGrpSpPr/>
            <p:nvPr/>
          </p:nvGrpSpPr>
          <p:grpSpPr>
            <a:xfrm>
              <a:off x="10504" y="4031"/>
              <a:ext cx="1908" cy="2478"/>
              <a:chOff x="3446" y="4015"/>
              <a:chExt cx="1908" cy="2478"/>
            </a:xfrm>
          </p:grpSpPr>
          <p:sp>
            <p:nvSpPr>
              <p:cNvPr id="52" name="矩形 51"/>
              <p:cNvSpPr/>
              <p:nvPr/>
            </p:nvSpPr>
            <p:spPr>
              <a:xfrm rot="16200000">
                <a:off x="4831" y="4236"/>
                <a:ext cx="208" cy="11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r"/>
                <a:endParaRPr lang="zh-CN" altLang="en-US" sz="900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4595" y="5318"/>
                <a:ext cx="643" cy="44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900"/>
              </a:p>
            </p:txBody>
          </p:sp>
          <p:cxnSp>
            <p:nvCxnSpPr>
              <p:cNvPr id="54" name="直接连接符 53"/>
              <p:cNvCxnSpPr/>
              <p:nvPr/>
            </p:nvCxnSpPr>
            <p:spPr>
              <a:xfrm>
                <a:off x="4928" y="5050"/>
                <a:ext cx="0" cy="26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任意多边形 54"/>
              <p:cNvSpPr/>
              <p:nvPr/>
            </p:nvSpPr>
            <p:spPr>
              <a:xfrm>
                <a:off x="4650" y="5433"/>
                <a:ext cx="215" cy="115"/>
              </a:xfrm>
              <a:custGeom>
                <a:avLst/>
                <a:gdLst>
                  <a:gd name="connisteX0" fmla="*/ 0 w 2939356"/>
                  <a:gd name="connsiteY0" fmla="*/ 716282 h 1440184"/>
                  <a:gd name="connisteX1" fmla="*/ 739140 w 2939356"/>
                  <a:gd name="connsiteY1" fmla="*/ 2 h 1440184"/>
                  <a:gd name="connisteX2" fmla="*/ 1455420 w 2939356"/>
                  <a:gd name="connsiteY2" fmla="*/ 708662 h 1440184"/>
                  <a:gd name="connisteX3" fmla="*/ 2164080 w 2939356"/>
                  <a:gd name="connsiteY3" fmla="*/ 1440182 h 1440184"/>
                  <a:gd name="connisteX4" fmla="*/ 2880360 w 2939356"/>
                  <a:gd name="connsiteY4" fmla="*/ 716282 h 1440184"/>
                  <a:gd name="connisteX5" fmla="*/ 2880360 w 2939356"/>
                  <a:gd name="connsiteY5" fmla="*/ 716282 h 1440184"/>
                  <a:gd name="connisteX6" fmla="*/ 2994660 w 2939356"/>
                  <a:gd name="connsiteY6" fmla="*/ 594362 h 1440184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  <a:cxn ang="0">
                    <a:pos x="connisteX4" y="connsiteY4"/>
                  </a:cxn>
                  <a:cxn ang="0">
                    <a:pos x="connisteX5" y="connsiteY5"/>
                  </a:cxn>
                  <a:cxn ang="0">
                    <a:pos x="connisteX6" y="connsiteY6"/>
                  </a:cxn>
                </a:cxnLst>
                <a:rect l="l" t="t" r="r" b="b"/>
                <a:pathLst>
                  <a:path w="2939357" h="1440185">
                    <a:moveTo>
                      <a:pt x="0" y="716283"/>
                    </a:moveTo>
                    <a:cubicBezTo>
                      <a:pt x="133350" y="558803"/>
                      <a:pt x="448310" y="1273"/>
                      <a:pt x="739140" y="3"/>
                    </a:cubicBezTo>
                    <a:cubicBezTo>
                      <a:pt x="1029970" y="-1267"/>
                      <a:pt x="1170305" y="420373"/>
                      <a:pt x="1455420" y="708663"/>
                    </a:cubicBezTo>
                    <a:cubicBezTo>
                      <a:pt x="1740535" y="996953"/>
                      <a:pt x="1878965" y="1438913"/>
                      <a:pt x="2164080" y="1440183"/>
                    </a:cubicBezTo>
                    <a:cubicBezTo>
                      <a:pt x="2449195" y="1441453"/>
                      <a:pt x="2736850" y="861063"/>
                      <a:pt x="2880360" y="716283"/>
                    </a:cubicBezTo>
                    <a:cubicBezTo>
                      <a:pt x="3023870" y="571503"/>
                      <a:pt x="2857500" y="740413"/>
                      <a:pt x="2880360" y="716283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900"/>
              </a:p>
            </p:txBody>
          </p:sp>
          <p:cxnSp>
            <p:nvCxnSpPr>
              <p:cNvPr id="56" name="直接连接符 55"/>
              <p:cNvCxnSpPr/>
              <p:nvPr/>
            </p:nvCxnSpPr>
            <p:spPr>
              <a:xfrm flipH="1">
                <a:off x="4644" y="5318"/>
                <a:ext cx="593" cy="44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H="1" flipV="1">
                <a:off x="4212" y="5542"/>
                <a:ext cx="385" cy="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矩形 57"/>
              <p:cNvSpPr/>
              <p:nvPr/>
            </p:nvSpPr>
            <p:spPr>
              <a:xfrm>
                <a:off x="3446" y="5318"/>
                <a:ext cx="746" cy="44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zh-CN" altLang="en-US" sz="700" b="1">
                    <a:solidFill>
                      <a:schemeClr val="tx1"/>
                    </a:solidFill>
                  </a:rPr>
                  <a:t>钒电池</a:t>
                </a:r>
                <a:endParaRPr lang="zh-CN" altLang="en-US" sz="7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9" name="组合 58"/>
              <p:cNvGrpSpPr/>
              <p:nvPr/>
            </p:nvGrpSpPr>
            <p:grpSpPr>
              <a:xfrm rot="0">
                <a:off x="5010" y="5621"/>
                <a:ext cx="128" cy="62"/>
                <a:chOff x="14476" y="1841"/>
                <a:chExt cx="181" cy="78"/>
              </a:xfrm>
            </p:grpSpPr>
            <p:cxnSp>
              <p:nvCxnSpPr>
                <p:cNvPr id="60" name="直接连接符 59"/>
                <p:cNvCxnSpPr/>
                <p:nvPr/>
              </p:nvCxnSpPr>
              <p:spPr>
                <a:xfrm flipV="1">
                  <a:off x="14476" y="1841"/>
                  <a:ext cx="181" cy="1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60"/>
                <p:cNvCxnSpPr/>
                <p:nvPr/>
              </p:nvCxnSpPr>
              <p:spPr>
                <a:xfrm flipV="1">
                  <a:off x="14476" y="1918"/>
                  <a:ext cx="181" cy="1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2" name="矩形 61"/>
              <p:cNvSpPr/>
              <p:nvPr/>
            </p:nvSpPr>
            <p:spPr>
              <a:xfrm>
                <a:off x="4478" y="6045"/>
                <a:ext cx="876" cy="44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700" b="1">
                    <a:solidFill>
                      <a:schemeClr val="tx1"/>
                    </a:solidFill>
                  </a:rPr>
                  <a:t>EMS</a:t>
                </a:r>
                <a:r>
                  <a:rPr lang="zh-CN" altLang="en-US" sz="700" b="1">
                    <a:solidFill>
                      <a:schemeClr val="tx1"/>
                    </a:solidFill>
                  </a:rPr>
                  <a:t>系统</a:t>
                </a:r>
                <a:endParaRPr lang="zh-CN" altLang="en-US" sz="700" b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3" name="直接连接符 62"/>
              <p:cNvCxnSpPr/>
              <p:nvPr/>
            </p:nvCxnSpPr>
            <p:spPr>
              <a:xfrm>
                <a:off x="4928" y="5776"/>
                <a:ext cx="0" cy="26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" name="组合 63"/>
              <p:cNvGrpSpPr/>
              <p:nvPr/>
            </p:nvGrpSpPr>
            <p:grpSpPr>
              <a:xfrm rot="16200000">
                <a:off x="4694" y="4656"/>
                <a:ext cx="469" cy="299"/>
                <a:chOff x="17617" y="6890"/>
                <a:chExt cx="501" cy="296"/>
              </a:xfrm>
            </p:grpSpPr>
            <p:sp>
              <p:nvSpPr>
                <p:cNvPr id="65" name="椭圆 64"/>
                <p:cNvSpPr/>
                <p:nvPr/>
              </p:nvSpPr>
              <p:spPr>
                <a:xfrm>
                  <a:off x="17617" y="6890"/>
                  <a:ext cx="298" cy="296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900"/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17820" y="6890"/>
                  <a:ext cx="298" cy="296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900"/>
                </a:p>
              </p:txBody>
            </p:sp>
          </p:grpSp>
          <p:cxnSp>
            <p:nvCxnSpPr>
              <p:cNvPr id="67" name="直接连接符 66"/>
              <p:cNvCxnSpPr/>
              <p:nvPr/>
            </p:nvCxnSpPr>
            <p:spPr>
              <a:xfrm flipH="1">
                <a:off x="4933" y="4015"/>
                <a:ext cx="4" cy="55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组合 91"/>
            <p:cNvGrpSpPr/>
            <p:nvPr/>
          </p:nvGrpSpPr>
          <p:grpSpPr>
            <a:xfrm>
              <a:off x="8212" y="2740"/>
              <a:ext cx="298" cy="1303"/>
              <a:chOff x="4779" y="4031"/>
              <a:chExt cx="298" cy="1303"/>
            </a:xfrm>
          </p:grpSpPr>
          <p:sp>
            <p:nvSpPr>
              <p:cNvPr id="93" name="矩形 92"/>
              <p:cNvSpPr/>
              <p:nvPr/>
            </p:nvSpPr>
            <p:spPr>
              <a:xfrm rot="16200000">
                <a:off x="4831" y="4252"/>
                <a:ext cx="208" cy="114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r"/>
                <a:endParaRPr lang="zh-CN" altLang="en-US" sz="900"/>
              </a:p>
            </p:txBody>
          </p:sp>
          <p:cxnSp>
            <p:nvCxnSpPr>
              <p:cNvPr id="95" name="直接连接符 94"/>
              <p:cNvCxnSpPr/>
              <p:nvPr/>
            </p:nvCxnSpPr>
            <p:spPr>
              <a:xfrm>
                <a:off x="4928" y="5066"/>
                <a:ext cx="0" cy="26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6" name="组合 95"/>
              <p:cNvGrpSpPr/>
              <p:nvPr/>
            </p:nvGrpSpPr>
            <p:grpSpPr>
              <a:xfrm rot="16200000">
                <a:off x="4694" y="4672"/>
                <a:ext cx="469" cy="299"/>
                <a:chOff x="17617" y="6890"/>
                <a:chExt cx="501" cy="296"/>
              </a:xfrm>
            </p:grpSpPr>
            <p:sp>
              <p:nvSpPr>
                <p:cNvPr id="97" name="椭圆 96"/>
                <p:cNvSpPr/>
                <p:nvPr/>
              </p:nvSpPr>
              <p:spPr>
                <a:xfrm>
                  <a:off x="17617" y="6890"/>
                  <a:ext cx="298" cy="296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900"/>
                </a:p>
              </p:txBody>
            </p:sp>
            <p:sp>
              <p:nvSpPr>
                <p:cNvPr id="98" name="椭圆 97"/>
                <p:cNvSpPr/>
                <p:nvPr/>
              </p:nvSpPr>
              <p:spPr>
                <a:xfrm>
                  <a:off x="17820" y="6890"/>
                  <a:ext cx="298" cy="296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900"/>
                </a:p>
              </p:txBody>
            </p:sp>
          </p:grpSp>
          <p:cxnSp>
            <p:nvCxnSpPr>
              <p:cNvPr id="99" name="直接连接符 98"/>
              <p:cNvCxnSpPr/>
              <p:nvPr/>
            </p:nvCxnSpPr>
            <p:spPr>
              <a:xfrm flipH="1">
                <a:off x="4933" y="4031"/>
                <a:ext cx="4" cy="55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矩形 99"/>
            <p:cNvSpPr/>
            <p:nvPr/>
          </p:nvSpPr>
          <p:spPr>
            <a:xfrm>
              <a:off x="3612" y="7140"/>
              <a:ext cx="9170" cy="40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zh-CN" altLang="en-US" sz="1200" b="1">
                  <a:solidFill>
                    <a:schemeClr val="tx1"/>
                  </a:solidFill>
                </a:rPr>
                <a:t>储能电站</a:t>
              </a:r>
              <a:r>
                <a:rPr lang="en-US" altLang="zh-CN" sz="1200" b="1">
                  <a:solidFill>
                    <a:schemeClr val="tx1"/>
                  </a:solidFill>
                </a:rPr>
                <a:t>EMS</a:t>
              </a:r>
              <a:r>
                <a:rPr lang="zh-CN" altLang="en-US" sz="1200" b="1">
                  <a:solidFill>
                    <a:schemeClr val="tx1"/>
                  </a:solidFill>
                </a:rPr>
                <a:t>系统</a:t>
              </a:r>
              <a:endParaRPr lang="zh-CN" alt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3612" y="8072"/>
              <a:ext cx="9170" cy="415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zh-CN" sz="1200" b="1">
                  <a:solidFill>
                    <a:schemeClr val="tx1"/>
                  </a:solidFill>
                </a:rPr>
                <a:t>地方电力调度</a:t>
              </a:r>
              <a:endParaRPr lang="zh-CN" sz="1200" b="1">
                <a:solidFill>
                  <a:schemeClr val="tx1"/>
                </a:solidFill>
              </a:endParaRPr>
            </a:p>
          </p:txBody>
        </p:sp>
        <p:cxnSp>
          <p:nvCxnSpPr>
            <p:cNvPr id="104" name="直接箭头连接符 103"/>
            <p:cNvCxnSpPr>
              <a:stCxn id="103" idx="0"/>
              <a:endCxn id="100" idx="2"/>
            </p:cNvCxnSpPr>
            <p:nvPr/>
          </p:nvCxnSpPr>
          <p:spPr>
            <a:xfrm flipV="1">
              <a:off x="8197" y="7542"/>
              <a:ext cx="0" cy="53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/>
            <p:cNvCxnSpPr/>
            <p:nvPr/>
          </p:nvCxnSpPr>
          <p:spPr>
            <a:xfrm flipV="1">
              <a:off x="4865" y="6510"/>
              <a:ext cx="0" cy="62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/>
            <p:cNvCxnSpPr/>
            <p:nvPr/>
          </p:nvCxnSpPr>
          <p:spPr>
            <a:xfrm flipV="1">
              <a:off x="7291" y="6513"/>
              <a:ext cx="0" cy="62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/>
            <p:cNvCxnSpPr/>
            <p:nvPr/>
          </p:nvCxnSpPr>
          <p:spPr>
            <a:xfrm flipV="1">
              <a:off x="9482" y="6513"/>
              <a:ext cx="0" cy="62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箭头连接符 107"/>
            <p:cNvCxnSpPr/>
            <p:nvPr/>
          </p:nvCxnSpPr>
          <p:spPr>
            <a:xfrm flipV="1">
              <a:off x="11975" y="6513"/>
              <a:ext cx="0" cy="62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文本框 108"/>
            <p:cNvSpPr txBox="1"/>
            <p:nvPr/>
          </p:nvSpPr>
          <p:spPr>
            <a:xfrm>
              <a:off x="10864" y="3571"/>
              <a:ext cx="154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FontTx/>
              </a:pPr>
              <a:r>
                <a:rPr lang="en-US" altLang="zh-CN" sz="1200" b="1"/>
                <a:t>380V</a:t>
              </a:r>
              <a:r>
                <a:rPr lang="zh-CN" altLang="en-US" sz="1200" b="1"/>
                <a:t>集电线</a:t>
              </a:r>
              <a:r>
                <a:rPr lang="en-US" altLang="zh-CN" sz="1200" b="1"/>
                <a:t> </a:t>
              </a:r>
              <a:endParaRPr lang="en-US" altLang="zh-CN" sz="1200" b="1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4" name="组合 83"/>
          <p:cNvGrpSpPr/>
          <p:nvPr/>
        </p:nvGrpSpPr>
        <p:grpSpPr>
          <a:xfrm>
            <a:off x="1190625" y="161290"/>
            <a:ext cx="10307955" cy="6596380"/>
            <a:chOff x="1875" y="254"/>
            <a:chExt cx="16233" cy="10388"/>
          </a:xfrm>
        </p:grpSpPr>
        <p:sp>
          <p:nvSpPr>
            <p:cNvPr id="10" name="流程图: 决策 9"/>
            <p:cNvSpPr/>
            <p:nvPr/>
          </p:nvSpPr>
          <p:spPr>
            <a:xfrm>
              <a:off x="11319" y="2216"/>
              <a:ext cx="2317" cy="963"/>
            </a:xfrm>
            <a:prstGeom prst="flowChartDecision">
              <a:avLst/>
            </a:prstGeom>
            <a:noFill/>
            <a:ln w="31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solidFill>
                    <a:schemeClr val="tx1"/>
                  </a:solidFill>
                </a:rPr>
                <a:t>是否可继续充放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1" name="流程图: 过程 10"/>
            <p:cNvSpPr/>
            <p:nvPr/>
          </p:nvSpPr>
          <p:spPr>
            <a:xfrm>
              <a:off x="11728" y="254"/>
              <a:ext cx="1501" cy="47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solidFill>
                    <a:schemeClr val="tx1"/>
                  </a:solidFill>
                </a:rPr>
                <a:t>开始仿真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2" name="流程图: 过程 11"/>
            <p:cNvSpPr/>
            <p:nvPr/>
          </p:nvSpPr>
          <p:spPr>
            <a:xfrm>
              <a:off x="11420" y="1180"/>
              <a:ext cx="2116" cy="58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solidFill>
                    <a:schemeClr val="tx1"/>
                  </a:solidFill>
                </a:rPr>
                <a:t>初始化</a:t>
              </a:r>
              <a:r>
                <a:rPr lang="en-US" altLang="zh-CN" sz="1000">
                  <a:solidFill>
                    <a:schemeClr val="tx1"/>
                  </a:solidFill>
                </a:rPr>
                <a:t>MultiStepSimulator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4" name="流程图: 过程 13"/>
            <p:cNvSpPr/>
            <p:nvPr/>
          </p:nvSpPr>
          <p:spPr>
            <a:xfrm>
              <a:off x="5811" y="872"/>
              <a:ext cx="1940" cy="424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solidFill>
                    <a:schemeClr val="tx1"/>
                  </a:solidFill>
                </a:rPr>
                <a:t>计算总可用功率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5" name="流程图: 过程 14"/>
            <p:cNvSpPr/>
            <p:nvPr/>
          </p:nvSpPr>
          <p:spPr>
            <a:xfrm>
              <a:off x="5811" y="1505"/>
              <a:ext cx="1941" cy="50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solidFill>
                    <a:schemeClr val="tx1"/>
                  </a:solidFill>
                </a:rPr>
                <a:t>调整指令功率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6" name="流程图: 过程 15"/>
            <p:cNvSpPr/>
            <p:nvPr/>
          </p:nvSpPr>
          <p:spPr>
            <a:xfrm>
              <a:off x="5723" y="2219"/>
              <a:ext cx="2116" cy="58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solidFill>
                    <a:schemeClr val="tx1"/>
                  </a:solidFill>
                </a:rPr>
                <a:t>调用</a:t>
              </a:r>
              <a:r>
                <a:rPr lang="en-US" altLang="zh-CN" sz="1000">
                  <a:solidFill>
                    <a:schemeClr val="tx1"/>
                  </a:solidFill>
                </a:rPr>
                <a:t>PSOSolver</a:t>
              </a:r>
              <a:r>
                <a:rPr lang="zh-CN" altLang="en-US" sz="1000">
                  <a:solidFill>
                    <a:schemeClr val="tx1"/>
                  </a:solidFill>
                </a:rPr>
                <a:t>求解功率分配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17" name="流程图: 过程 16"/>
            <p:cNvSpPr/>
            <p:nvPr/>
          </p:nvSpPr>
          <p:spPr>
            <a:xfrm>
              <a:off x="5810" y="3133"/>
              <a:ext cx="1942" cy="458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>
                  <a:solidFill>
                    <a:schemeClr val="tx1"/>
                  </a:solidFill>
                </a:rPr>
                <a:t>初始化粒子群</a:t>
              </a:r>
              <a:endParaRPr lang="zh-CN" sz="1000">
                <a:solidFill>
                  <a:schemeClr val="tx1"/>
                </a:solidFill>
              </a:endParaRPr>
            </a:p>
          </p:txBody>
        </p:sp>
        <p:sp>
          <p:nvSpPr>
            <p:cNvPr id="20" name="流程图: 过程 19"/>
            <p:cNvSpPr/>
            <p:nvPr/>
          </p:nvSpPr>
          <p:spPr>
            <a:xfrm>
              <a:off x="7187" y="5907"/>
              <a:ext cx="2116" cy="58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>
                  <a:solidFill>
                    <a:schemeClr val="tx1"/>
                  </a:solidFill>
                </a:rPr>
                <a:t>返回最优功率分配</a:t>
              </a:r>
              <a:endParaRPr lang="zh-CN" sz="1000">
                <a:solidFill>
                  <a:schemeClr val="tx1"/>
                </a:solidFill>
              </a:endParaRPr>
            </a:p>
          </p:txBody>
        </p:sp>
        <p:sp>
          <p:nvSpPr>
            <p:cNvPr id="21" name="流程图: 过程 20"/>
            <p:cNvSpPr/>
            <p:nvPr/>
          </p:nvSpPr>
          <p:spPr>
            <a:xfrm>
              <a:off x="3026" y="5045"/>
              <a:ext cx="2116" cy="58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>
                  <a:solidFill>
                    <a:schemeClr val="tx1"/>
                  </a:solidFill>
                  <a:sym typeface="+mn-ea"/>
                </a:rPr>
                <a:t>遍历所有粒子，</a:t>
              </a:r>
              <a:endParaRPr lang="zh-CN" sz="1000">
                <a:solidFill>
                  <a:schemeClr val="tx1"/>
                </a:solidFill>
              </a:endParaRPr>
            </a:p>
            <a:p>
              <a:pPr algn="ctr"/>
              <a:r>
                <a:rPr lang="zh-CN" sz="1000">
                  <a:solidFill>
                    <a:schemeClr val="tx1"/>
                  </a:solidFill>
                </a:rPr>
                <a:t>更新粒子速度和位置</a:t>
              </a:r>
              <a:endParaRPr lang="zh-CN" sz="1000">
                <a:solidFill>
                  <a:schemeClr val="tx1"/>
                </a:solidFill>
              </a:endParaRPr>
            </a:p>
          </p:txBody>
        </p:sp>
        <p:sp>
          <p:nvSpPr>
            <p:cNvPr id="24" name="流程图: 过程 23"/>
            <p:cNvSpPr/>
            <p:nvPr/>
          </p:nvSpPr>
          <p:spPr>
            <a:xfrm>
              <a:off x="1875" y="7098"/>
              <a:ext cx="1657" cy="58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>
                  <a:solidFill>
                    <a:schemeClr val="tx1"/>
                  </a:solidFill>
                </a:rPr>
                <a:t>零功率死区处理</a:t>
              </a:r>
              <a:endParaRPr lang="zh-CN" sz="1000">
                <a:solidFill>
                  <a:schemeClr val="tx1"/>
                </a:solidFill>
              </a:endParaRPr>
            </a:p>
          </p:txBody>
        </p:sp>
        <p:sp>
          <p:nvSpPr>
            <p:cNvPr id="25" name="流程图: 过程 24"/>
            <p:cNvSpPr/>
            <p:nvPr/>
          </p:nvSpPr>
          <p:spPr>
            <a:xfrm>
              <a:off x="4534" y="7098"/>
              <a:ext cx="1757" cy="58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>
                  <a:solidFill>
                    <a:schemeClr val="tx1"/>
                  </a:solidFill>
                </a:rPr>
                <a:t>正常边界吸收处理</a:t>
              </a:r>
              <a:endParaRPr lang="zh-CN" sz="1000">
                <a:solidFill>
                  <a:schemeClr val="tx1"/>
                </a:solidFill>
              </a:endParaRPr>
            </a:p>
          </p:txBody>
        </p:sp>
        <p:sp>
          <p:nvSpPr>
            <p:cNvPr id="26" name="流程图: 过程 25"/>
            <p:cNvSpPr/>
            <p:nvPr/>
          </p:nvSpPr>
          <p:spPr>
            <a:xfrm>
              <a:off x="3026" y="8160"/>
              <a:ext cx="2116" cy="58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>
                  <a:solidFill>
                    <a:schemeClr val="tx1"/>
                  </a:solidFill>
                </a:rPr>
                <a:t>计算适应度</a:t>
              </a:r>
              <a:endParaRPr lang="zh-CN" sz="1000">
                <a:solidFill>
                  <a:schemeClr val="tx1"/>
                </a:solidFill>
              </a:endParaRPr>
            </a:p>
          </p:txBody>
        </p:sp>
        <p:sp>
          <p:nvSpPr>
            <p:cNvPr id="27" name="流程图: 过程 26"/>
            <p:cNvSpPr/>
            <p:nvPr/>
          </p:nvSpPr>
          <p:spPr>
            <a:xfrm>
              <a:off x="3026" y="9022"/>
              <a:ext cx="2116" cy="58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>
                  <a:solidFill>
                    <a:schemeClr val="tx1"/>
                  </a:solidFill>
                </a:rPr>
                <a:t>更新个体、全局最优</a:t>
              </a:r>
              <a:endParaRPr lang="zh-CN" sz="1000">
                <a:solidFill>
                  <a:schemeClr val="tx1"/>
                </a:solidFill>
              </a:endParaRPr>
            </a:p>
          </p:txBody>
        </p:sp>
        <p:sp>
          <p:nvSpPr>
            <p:cNvPr id="29" name="流程图: 过程 28"/>
            <p:cNvSpPr/>
            <p:nvPr/>
          </p:nvSpPr>
          <p:spPr>
            <a:xfrm>
              <a:off x="3026" y="9884"/>
              <a:ext cx="2116" cy="58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>
                  <a:solidFill>
                    <a:schemeClr val="tx1"/>
                  </a:solidFill>
                </a:rPr>
                <a:t>惯性权重衰减</a:t>
              </a:r>
              <a:endParaRPr lang="zh-CN" sz="1000">
                <a:solidFill>
                  <a:schemeClr val="tx1"/>
                </a:solidFill>
              </a:endParaRPr>
            </a:p>
          </p:txBody>
        </p:sp>
        <p:sp>
          <p:nvSpPr>
            <p:cNvPr id="30" name="流程图: 过程 29"/>
            <p:cNvSpPr/>
            <p:nvPr/>
          </p:nvSpPr>
          <p:spPr>
            <a:xfrm>
              <a:off x="11621" y="4666"/>
              <a:ext cx="2116" cy="58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>
                  <a:solidFill>
                    <a:schemeClr val="tx1"/>
                  </a:solidFill>
                </a:rPr>
                <a:t>更新各系统</a:t>
              </a:r>
              <a:r>
                <a:rPr lang="en-US" altLang="zh-CN" sz="1000">
                  <a:solidFill>
                    <a:schemeClr val="tx1"/>
                  </a:solidFill>
                </a:rPr>
                <a:t>SOC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31" name="流程图: 过程 30"/>
            <p:cNvSpPr/>
            <p:nvPr/>
          </p:nvSpPr>
          <p:spPr>
            <a:xfrm>
              <a:off x="11621" y="5630"/>
              <a:ext cx="2116" cy="58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>
                  <a:solidFill>
                    <a:schemeClr val="tx1"/>
                  </a:solidFill>
                </a:rPr>
                <a:t>获取系统功率分配</a:t>
              </a:r>
              <a:endParaRPr lang="zh-CN" sz="1000">
                <a:solidFill>
                  <a:schemeClr val="tx1"/>
                </a:solidFill>
              </a:endParaRPr>
            </a:p>
          </p:txBody>
        </p:sp>
        <p:sp>
          <p:nvSpPr>
            <p:cNvPr id="32" name="流程图: 过程 31"/>
            <p:cNvSpPr/>
            <p:nvPr/>
          </p:nvSpPr>
          <p:spPr>
            <a:xfrm>
              <a:off x="11621" y="6593"/>
              <a:ext cx="2116" cy="58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>
                  <a:solidFill>
                    <a:schemeClr val="tx1"/>
                  </a:solidFill>
                </a:rPr>
                <a:t>计算充放电效率</a:t>
              </a:r>
              <a:endParaRPr lang="zh-CN" sz="1000">
                <a:solidFill>
                  <a:schemeClr val="tx1"/>
                </a:solidFill>
              </a:endParaRPr>
            </a:p>
          </p:txBody>
        </p:sp>
        <p:sp>
          <p:nvSpPr>
            <p:cNvPr id="33" name="流程图: 过程 32"/>
            <p:cNvSpPr/>
            <p:nvPr/>
          </p:nvSpPr>
          <p:spPr>
            <a:xfrm>
              <a:off x="11621" y="7490"/>
              <a:ext cx="2116" cy="58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>
                  <a:solidFill>
                    <a:schemeClr val="tx1"/>
                  </a:solidFill>
                </a:rPr>
                <a:t>更新</a:t>
              </a:r>
              <a:r>
                <a:rPr lang="en-US" altLang="zh-CN" sz="1000">
                  <a:solidFill>
                    <a:schemeClr val="tx1"/>
                  </a:solidFill>
                </a:rPr>
                <a:t>SOC</a:t>
              </a:r>
              <a:r>
                <a:rPr lang="zh-CN" altLang="en-US" sz="1000">
                  <a:solidFill>
                    <a:schemeClr val="tx1"/>
                  </a:solidFill>
                </a:rPr>
                <a:t>值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34" name="流程图: 过程 33"/>
            <p:cNvSpPr/>
            <p:nvPr/>
          </p:nvSpPr>
          <p:spPr>
            <a:xfrm>
              <a:off x="11621" y="8387"/>
              <a:ext cx="2116" cy="58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>
                  <a:solidFill>
                    <a:schemeClr val="tx1"/>
                  </a:solidFill>
                </a:rPr>
                <a:t>检查</a:t>
              </a:r>
              <a:r>
                <a:rPr lang="en-US" altLang="zh-CN" sz="1000">
                  <a:solidFill>
                    <a:schemeClr val="tx1"/>
                  </a:solidFill>
                </a:rPr>
                <a:t>SOC</a:t>
              </a:r>
              <a:r>
                <a:rPr lang="zh-CN" altLang="en-US" sz="1000">
                  <a:solidFill>
                    <a:schemeClr val="tx1"/>
                  </a:solidFill>
                </a:rPr>
                <a:t>范围，</a:t>
              </a:r>
              <a:r>
                <a:rPr lang="zh-CN" sz="1000">
                  <a:solidFill>
                    <a:schemeClr val="tx1"/>
                  </a:solidFill>
                  <a:sym typeface="+mn-ea"/>
                </a:rPr>
                <a:t>限制</a:t>
              </a:r>
              <a:r>
                <a:rPr lang="en-US" altLang="zh-CN" sz="1000">
                  <a:solidFill>
                    <a:schemeClr val="tx1"/>
                  </a:solidFill>
                  <a:sym typeface="+mn-ea"/>
                </a:rPr>
                <a:t>SOC</a:t>
              </a:r>
              <a:r>
                <a:rPr lang="zh-CN" altLang="en-US" sz="1000">
                  <a:solidFill>
                    <a:schemeClr val="tx1"/>
                  </a:solidFill>
                  <a:sym typeface="+mn-ea"/>
                </a:rPr>
                <a:t>在安全范围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36" name="流程图: 过程 35"/>
            <p:cNvSpPr/>
            <p:nvPr/>
          </p:nvSpPr>
          <p:spPr>
            <a:xfrm>
              <a:off x="11621" y="9401"/>
              <a:ext cx="2116" cy="58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>
                  <a:solidFill>
                    <a:schemeClr val="tx1"/>
                  </a:solidFill>
                </a:rPr>
                <a:t>记录历史数据</a:t>
              </a:r>
              <a:endParaRPr lang="zh-CN" sz="1000">
                <a:solidFill>
                  <a:schemeClr val="tx1"/>
                </a:solidFill>
              </a:endParaRPr>
            </a:p>
          </p:txBody>
        </p:sp>
        <p:sp>
          <p:nvSpPr>
            <p:cNvPr id="37" name="流程图: 过程 36"/>
            <p:cNvSpPr/>
            <p:nvPr/>
          </p:nvSpPr>
          <p:spPr>
            <a:xfrm>
              <a:off x="15450" y="4666"/>
              <a:ext cx="2116" cy="58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solidFill>
                    <a:schemeClr val="tx1"/>
                  </a:solidFill>
                </a:rPr>
                <a:t>记录当前时间步结果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38" name="流程图: 决策 37"/>
            <p:cNvSpPr/>
            <p:nvPr/>
          </p:nvSpPr>
          <p:spPr>
            <a:xfrm>
              <a:off x="15369" y="5529"/>
              <a:ext cx="2317" cy="963"/>
            </a:xfrm>
            <a:prstGeom prst="flowChartDecision">
              <a:avLst/>
            </a:prstGeom>
            <a:noFill/>
            <a:ln w="31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solidFill>
                    <a:schemeClr val="tx1"/>
                  </a:solidFill>
                </a:rPr>
                <a:t>是否达到最大步数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0" name="流程图: 过程 39"/>
            <p:cNvSpPr/>
            <p:nvPr/>
          </p:nvSpPr>
          <p:spPr>
            <a:xfrm>
              <a:off x="15470" y="7077"/>
              <a:ext cx="2116" cy="585"/>
            </a:xfrm>
            <a:prstGeom prst="flowChartProcess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000">
                  <a:solidFill>
                    <a:schemeClr val="tx1"/>
                  </a:solidFill>
                </a:rPr>
                <a:t>输出仿真结果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1" name="流程图: 决策 40"/>
            <p:cNvSpPr/>
            <p:nvPr/>
          </p:nvSpPr>
          <p:spPr>
            <a:xfrm>
              <a:off x="5623" y="3901"/>
              <a:ext cx="2317" cy="963"/>
            </a:xfrm>
            <a:prstGeom prst="flowChartDecision">
              <a:avLst/>
            </a:prstGeom>
            <a:noFill/>
            <a:ln w="31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>
                  <a:solidFill>
                    <a:schemeClr val="tx1"/>
                  </a:solidFill>
                  <a:sym typeface="+mn-ea"/>
                </a:rPr>
                <a:t>迭代次数是否达到最大值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42" name="流程图: 决策 41"/>
            <p:cNvSpPr/>
            <p:nvPr/>
          </p:nvSpPr>
          <p:spPr>
            <a:xfrm>
              <a:off x="2926" y="5855"/>
              <a:ext cx="2317" cy="963"/>
            </a:xfrm>
            <a:prstGeom prst="flowChartDecision">
              <a:avLst/>
            </a:prstGeom>
            <a:noFill/>
            <a:ln w="31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sz="1000">
                  <a:solidFill>
                    <a:schemeClr val="tx1"/>
                  </a:solidFill>
                  <a:sym typeface="+mn-ea"/>
                </a:rPr>
                <a:t>是否为零功率附近</a:t>
              </a:r>
              <a:endParaRPr lang="zh-CN" altLang="en-US" sz="1000">
                <a:solidFill>
                  <a:schemeClr val="tx1"/>
                </a:solidFill>
              </a:endParaRPr>
            </a:p>
          </p:txBody>
        </p:sp>
        <p:cxnSp>
          <p:nvCxnSpPr>
            <p:cNvPr id="43" name="直接箭头连接符 42"/>
            <p:cNvCxnSpPr>
              <a:stCxn id="11" idx="2"/>
              <a:endCxn id="12" idx="0"/>
            </p:cNvCxnSpPr>
            <p:nvPr/>
          </p:nvCxnSpPr>
          <p:spPr>
            <a:xfrm flipH="1">
              <a:off x="12478" y="729"/>
              <a:ext cx="1" cy="45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12" idx="2"/>
              <a:endCxn id="10" idx="0"/>
            </p:cNvCxnSpPr>
            <p:nvPr/>
          </p:nvCxnSpPr>
          <p:spPr>
            <a:xfrm>
              <a:off x="12478" y="1765"/>
              <a:ext cx="0" cy="451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肘形连接符 44"/>
            <p:cNvCxnSpPr>
              <a:stCxn id="10" idx="1"/>
              <a:endCxn id="14" idx="3"/>
            </p:cNvCxnSpPr>
            <p:nvPr/>
          </p:nvCxnSpPr>
          <p:spPr>
            <a:xfrm rot="10800000">
              <a:off x="7751" y="1084"/>
              <a:ext cx="3568" cy="1614"/>
            </a:xfrm>
            <a:prstGeom prst="bentConnector3">
              <a:avLst>
                <a:gd name="adj1" fmla="val 21973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>
              <a:stCxn id="14" idx="2"/>
              <a:endCxn id="15" idx="0"/>
            </p:cNvCxnSpPr>
            <p:nvPr/>
          </p:nvCxnSpPr>
          <p:spPr>
            <a:xfrm>
              <a:off x="6781" y="1296"/>
              <a:ext cx="0" cy="20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15" idx="2"/>
              <a:endCxn id="16" idx="0"/>
            </p:cNvCxnSpPr>
            <p:nvPr/>
          </p:nvCxnSpPr>
          <p:spPr>
            <a:xfrm>
              <a:off x="6781" y="2010"/>
              <a:ext cx="0" cy="20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>
              <a:stCxn id="16" idx="2"/>
              <a:endCxn id="17" idx="0"/>
            </p:cNvCxnSpPr>
            <p:nvPr/>
          </p:nvCxnSpPr>
          <p:spPr>
            <a:xfrm>
              <a:off x="6781" y="2804"/>
              <a:ext cx="0" cy="32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>
              <a:stCxn id="17" idx="2"/>
              <a:endCxn id="41" idx="0"/>
            </p:cNvCxnSpPr>
            <p:nvPr/>
          </p:nvCxnSpPr>
          <p:spPr>
            <a:xfrm>
              <a:off x="6781" y="3591"/>
              <a:ext cx="1" cy="31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肘形连接符 51"/>
            <p:cNvCxnSpPr>
              <a:stCxn id="41" idx="1"/>
              <a:endCxn id="21" idx="0"/>
            </p:cNvCxnSpPr>
            <p:nvPr/>
          </p:nvCxnSpPr>
          <p:spPr>
            <a:xfrm rot="10800000" flipV="1">
              <a:off x="4083" y="4383"/>
              <a:ext cx="1539" cy="662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>
              <a:stCxn id="21" idx="2"/>
              <a:endCxn id="42" idx="0"/>
            </p:cNvCxnSpPr>
            <p:nvPr/>
          </p:nvCxnSpPr>
          <p:spPr>
            <a:xfrm>
              <a:off x="4084" y="5630"/>
              <a:ext cx="1" cy="22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肘形连接符 53"/>
            <p:cNvCxnSpPr>
              <a:stCxn id="42" idx="1"/>
              <a:endCxn id="24" idx="0"/>
            </p:cNvCxnSpPr>
            <p:nvPr/>
          </p:nvCxnSpPr>
          <p:spPr>
            <a:xfrm rot="10800000" flipV="1">
              <a:off x="2704" y="6337"/>
              <a:ext cx="222" cy="761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肘形连接符 54"/>
            <p:cNvCxnSpPr>
              <a:stCxn id="42" idx="3"/>
              <a:endCxn id="25" idx="0"/>
            </p:cNvCxnSpPr>
            <p:nvPr/>
          </p:nvCxnSpPr>
          <p:spPr>
            <a:xfrm>
              <a:off x="5243" y="6337"/>
              <a:ext cx="170" cy="761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肘形连接符 55"/>
            <p:cNvCxnSpPr>
              <a:stCxn id="24" idx="2"/>
              <a:endCxn id="26" idx="0"/>
            </p:cNvCxnSpPr>
            <p:nvPr/>
          </p:nvCxnSpPr>
          <p:spPr>
            <a:xfrm rot="5400000" flipV="1">
              <a:off x="3156" y="7232"/>
              <a:ext cx="477" cy="138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肘形连接符 56"/>
            <p:cNvCxnSpPr>
              <a:stCxn id="25" idx="2"/>
              <a:endCxn id="26" idx="0"/>
            </p:cNvCxnSpPr>
            <p:nvPr/>
          </p:nvCxnSpPr>
          <p:spPr>
            <a:xfrm rot="5400000">
              <a:off x="4510" y="7257"/>
              <a:ext cx="477" cy="1329"/>
            </a:xfrm>
            <a:prstGeom prst="bentConnector3">
              <a:avLst>
                <a:gd name="adj1" fmla="val 50105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/>
            <p:cNvCxnSpPr>
              <a:stCxn id="26" idx="2"/>
              <a:endCxn id="27" idx="0"/>
            </p:cNvCxnSpPr>
            <p:nvPr/>
          </p:nvCxnSpPr>
          <p:spPr>
            <a:xfrm>
              <a:off x="4084" y="8745"/>
              <a:ext cx="0" cy="27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/>
            <p:cNvCxnSpPr>
              <a:stCxn id="27" idx="2"/>
              <a:endCxn id="29" idx="0"/>
            </p:cNvCxnSpPr>
            <p:nvPr/>
          </p:nvCxnSpPr>
          <p:spPr>
            <a:xfrm>
              <a:off x="4084" y="9607"/>
              <a:ext cx="0" cy="27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肘形连接符 59"/>
            <p:cNvCxnSpPr>
              <a:stCxn id="29" idx="3"/>
              <a:endCxn id="41" idx="2"/>
            </p:cNvCxnSpPr>
            <p:nvPr/>
          </p:nvCxnSpPr>
          <p:spPr>
            <a:xfrm flipV="1">
              <a:off x="5142" y="4864"/>
              <a:ext cx="1639" cy="5313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肘形连接符 60"/>
            <p:cNvCxnSpPr>
              <a:stCxn id="41" idx="3"/>
              <a:endCxn id="20" idx="0"/>
            </p:cNvCxnSpPr>
            <p:nvPr/>
          </p:nvCxnSpPr>
          <p:spPr>
            <a:xfrm>
              <a:off x="7940" y="4383"/>
              <a:ext cx="305" cy="1524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肘形连接符 61"/>
            <p:cNvCxnSpPr/>
            <p:nvPr/>
          </p:nvCxnSpPr>
          <p:spPr>
            <a:xfrm>
              <a:off x="7839" y="2512"/>
              <a:ext cx="3782" cy="2447"/>
            </a:xfrm>
            <a:prstGeom prst="bentConnector3">
              <a:avLst>
                <a:gd name="adj1" fmla="val 62162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>
              <a:stCxn id="30" idx="2"/>
              <a:endCxn id="31" idx="0"/>
            </p:cNvCxnSpPr>
            <p:nvPr/>
          </p:nvCxnSpPr>
          <p:spPr>
            <a:xfrm>
              <a:off x="12679" y="5251"/>
              <a:ext cx="0" cy="37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>
              <a:stCxn id="31" idx="2"/>
              <a:endCxn id="32" idx="0"/>
            </p:cNvCxnSpPr>
            <p:nvPr/>
          </p:nvCxnSpPr>
          <p:spPr>
            <a:xfrm>
              <a:off x="12679" y="6215"/>
              <a:ext cx="0" cy="37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>
              <a:stCxn id="32" idx="2"/>
              <a:endCxn id="33" idx="0"/>
            </p:cNvCxnSpPr>
            <p:nvPr/>
          </p:nvCxnSpPr>
          <p:spPr>
            <a:xfrm>
              <a:off x="12679" y="7178"/>
              <a:ext cx="0" cy="31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>
              <a:stCxn id="33" idx="2"/>
              <a:endCxn id="34" idx="0"/>
            </p:cNvCxnSpPr>
            <p:nvPr/>
          </p:nvCxnSpPr>
          <p:spPr>
            <a:xfrm>
              <a:off x="12679" y="8075"/>
              <a:ext cx="0" cy="31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>
              <a:stCxn id="34" idx="2"/>
              <a:endCxn id="36" idx="0"/>
            </p:cNvCxnSpPr>
            <p:nvPr/>
          </p:nvCxnSpPr>
          <p:spPr>
            <a:xfrm>
              <a:off x="12679" y="8972"/>
              <a:ext cx="0" cy="42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/>
            <p:cNvCxnSpPr>
              <a:stCxn id="30" idx="3"/>
              <a:endCxn id="37" idx="1"/>
            </p:cNvCxnSpPr>
            <p:nvPr/>
          </p:nvCxnSpPr>
          <p:spPr>
            <a:xfrm>
              <a:off x="13737" y="4959"/>
              <a:ext cx="171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/>
            <p:cNvCxnSpPr>
              <a:stCxn id="37" idx="2"/>
              <a:endCxn id="38" idx="0"/>
            </p:cNvCxnSpPr>
            <p:nvPr/>
          </p:nvCxnSpPr>
          <p:spPr>
            <a:xfrm>
              <a:off x="16508" y="5251"/>
              <a:ext cx="20" cy="27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>
              <a:stCxn id="38" idx="2"/>
              <a:endCxn id="40" idx="0"/>
            </p:cNvCxnSpPr>
            <p:nvPr/>
          </p:nvCxnSpPr>
          <p:spPr>
            <a:xfrm>
              <a:off x="16528" y="6492"/>
              <a:ext cx="0" cy="58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肘形连接符 70"/>
            <p:cNvCxnSpPr>
              <a:stCxn id="38" idx="3"/>
              <a:endCxn id="10" idx="3"/>
            </p:cNvCxnSpPr>
            <p:nvPr/>
          </p:nvCxnSpPr>
          <p:spPr>
            <a:xfrm flipH="1" flipV="1">
              <a:off x="13636" y="2698"/>
              <a:ext cx="4050" cy="3313"/>
            </a:xfrm>
            <a:prstGeom prst="bentConnector3">
              <a:avLst>
                <a:gd name="adj1" fmla="val -9259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肘形连接符 71"/>
            <p:cNvCxnSpPr>
              <a:endCxn id="40" idx="3"/>
            </p:cNvCxnSpPr>
            <p:nvPr/>
          </p:nvCxnSpPr>
          <p:spPr>
            <a:xfrm rot="5400000" flipV="1">
              <a:off x="12733" y="2517"/>
              <a:ext cx="5010" cy="4696"/>
            </a:xfrm>
            <a:prstGeom prst="bentConnector4">
              <a:avLst>
                <a:gd name="adj1" fmla="val 379"/>
                <a:gd name="adj2" fmla="val 120336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矩形 72"/>
            <p:cNvSpPr/>
            <p:nvPr/>
          </p:nvSpPr>
          <p:spPr>
            <a:xfrm>
              <a:off x="1875" y="2982"/>
              <a:ext cx="7680" cy="7660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10774" y="5402"/>
              <a:ext cx="3400" cy="4775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15966" y="6524"/>
              <a:ext cx="54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是</a:t>
              </a:r>
              <a:endParaRPr lang="zh-CN" altLang="en-US" sz="1000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2162" y="6492"/>
              <a:ext cx="54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是</a:t>
              </a:r>
              <a:endParaRPr lang="zh-CN" altLang="en-US" sz="1000"/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5413" y="6492"/>
              <a:ext cx="54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否</a:t>
              </a:r>
              <a:endParaRPr lang="zh-CN" altLang="en-US" sz="1000"/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4246" y="3901"/>
              <a:ext cx="54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否</a:t>
              </a:r>
              <a:endParaRPr lang="zh-CN" altLang="en-US" sz="1000"/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7703" y="4672"/>
              <a:ext cx="54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是</a:t>
              </a:r>
              <a:endParaRPr lang="zh-CN" altLang="en-US" sz="1000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14486" y="2010"/>
              <a:ext cx="54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否</a:t>
              </a:r>
              <a:endParaRPr lang="zh-CN" altLang="en-US" sz="1000"/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17566" y="6106"/>
              <a:ext cx="54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否</a:t>
              </a:r>
              <a:endParaRPr lang="zh-CN" altLang="en-US" sz="1000"/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10774" y="2775"/>
              <a:ext cx="54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/>
                <a:t>是</a:t>
              </a:r>
              <a:endParaRPr lang="zh-CN" altLang="en-US" sz="10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</Words>
  <Application>WPS 演示</Application>
  <PresentationFormat>宽屏</PresentationFormat>
  <Paragraphs>91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 Unicode MS</vt:lpstr>
      <vt:lpstr>Calibri</vt:lpstr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P52s</cp:lastModifiedBy>
  <cp:revision>3</cp:revision>
  <dcterms:created xsi:type="dcterms:W3CDTF">2025-12-11T07:29:00Z</dcterms:created>
  <dcterms:modified xsi:type="dcterms:W3CDTF">2025-12-15T06:39:29Z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1182939CC6494FC5B10827BA919F8F1A</vt:lpwstr>
  </property>
  <property fmtid="{D5CDD505-2E9C-101B-9397-08002B2CF9AE}" pid="3" name="KSOProductBuildVer">
    <vt:lpwstr>2052-11.8.2.12309</vt:lpwstr>
  </property>
</Properties>
</file>